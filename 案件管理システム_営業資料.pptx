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64008"/>
            <a:ext cx="2560320" cy="50154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64008"/>
            <a:ext cx="54864" cy="501548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18872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導入実績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業界コスト比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1/3を実現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548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案件管理システム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0058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196F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超・進化型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457200" y="1920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案件管理システム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457200" y="2834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〜現場が「自然に使いたくなる」仕組みへ〜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3429000"/>
            <a:ext cx="5486400" cy="0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657600"/>
            <a:ext cx="1554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657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シンプル入力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240280" y="3657600"/>
            <a:ext cx="1554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40280" y="3657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AI超速開発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023360" y="3657600"/>
            <a:ext cx="1554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0" y="3657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低コスト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251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2026年　提案資料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09728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Excel管理の限界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4480560" cy="454914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現場の声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4023360" cy="65836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533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2344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入力項目が多く、現場が続かない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28600" y="1993392"/>
            <a:ext cx="4023360" cy="65836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15798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20391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バージョン管理ができず、最新版が不明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28600" y="2798064"/>
            <a:ext cx="4023360" cy="65836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962656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" y="284378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集計・分析に毎回、手作業が発生する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228600" y="3602736"/>
            <a:ext cx="4023360" cy="65836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7673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" y="364845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複数人での同時編集ができない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617720" y="594360"/>
            <a:ext cx="4526280" cy="45491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754880" y="749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Excelファイルの現実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754880" y="1207008"/>
            <a:ext cx="4114800" cy="402336"/>
          </a:xfrm>
          <a:prstGeom prst="rect">
            <a:avLst/>
          </a:prstGeom>
          <a:solidFill>
            <a:srgbClr val="FFF8F0"/>
          </a:solidFill>
          <a:ln w="12700">
            <a:solidFill>
              <a:srgbClr val="FFCC8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26187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30368" y="1207008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案件管理.xlsx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754880" y="1682496"/>
            <a:ext cx="4114800" cy="402336"/>
          </a:xfrm>
          <a:prstGeom prst="rect">
            <a:avLst/>
          </a:prstGeom>
          <a:solidFill>
            <a:srgbClr val="FFE0B2"/>
          </a:solidFill>
          <a:ln w="12700">
            <a:solidFill>
              <a:srgbClr val="FFCC8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73736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30368" y="168249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案件管理_最新.xlsx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754880" y="2157984"/>
            <a:ext cx="4114800" cy="402336"/>
          </a:xfrm>
          <a:prstGeom prst="rect">
            <a:avLst/>
          </a:prstGeom>
          <a:solidFill>
            <a:srgbClr val="FFF8F0"/>
          </a:solidFill>
          <a:ln w="12700">
            <a:solidFill>
              <a:srgbClr val="FFCC80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212848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30368" y="2157984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案件管理_最新2.xlsx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4754880" y="2633472"/>
            <a:ext cx="4114800" cy="402336"/>
          </a:xfrm>
          <a:prstGeom prst="rect">
            <a:avLst/>
          </a:prstGeom>
          <a:solidFill>
            <a:srgbClr val="FFE0B2"/>
          </a:solidFill>
          <a:ln w="12700">
            <a:solidFill>
              <a:srgbClr val="FFCC80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688336"/>
            <a:ext cx="292608" cy="29260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230368" y="2633472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案件管理_田中修正.xlsx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4754880" y="3108960"/>
            <a:ext cx="4114800" cy="402336"/>
          </a:xfrm>
          <a:prstGeom prst="rect">
            <a:avLst/>
          </a:prstGeom>
          <a:solidFill>
            <a:srgbClr val="FFF8F0"/>
          </a:solidFill>
          <a:ln w="12700">
            <a:solidFill>
              <a:srgbClr val="FFCC80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163824"/>
            <a:ext cx="292608" cy="29260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230368" y="3108960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案件管理_最終.xlsx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4754880" y="3584448"/>
            <a:ext cx="4114800" cy="402336"/>
          </a:xfrm>
          <a:prstGeom prst="rect">
            <a:avLst/>
          </a:prstGeom>
          <a:solidFill>
            <a:srgbClr val="FFE0B2"/>
          </a:solidFill>
          <a:ln w="12700">
            <a:solidFill>
              <a:srgbClr val="FFCC80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639312"/>
            <a:ext cx="292608" cy="29260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230368" y="3584448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案件管理_最終_本当.xlsx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4754880" y="4261104"/>
            <a:ext cx="4114800" cy="65836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4352544"/>
            <a:ext cx="365760" cy="36576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5349240" y="426110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「どれが最新版かわからない…」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09728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最大の壁：「現場が入力しないこと」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4023360" cy="45491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77240"/>
            <a:ext cx="1280160" cy="128016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91640" y="685800"/>
            <a:ext cx="1463040" cy="146304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822960"/>
            <a:ext cx="1188720" cy="1188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11480" y="2057400"/>
            <a:ext cx="1188720" cy="118872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914400" cy="9144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874520" y="2057400"/>
            <a:ext cx="1188720" cy="118872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19456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2880" y="3337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現場は今日も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全力疾走中</a:t>
            </a:r>
            <a:endParaRPr lang="en-US" sz="2200" dirty="0"/>
          </a:p>
        </p:txBody>
      </p:sp>
      <p:sp>
        <p:nvSpPr>
          <p:cNvPr id="15" name="Shape 9"/>
          <p:cNvSpPr/>
          <p:nvPr/>
        </p:nvSpPr>
        <p:spPr>
          <a:xfrm>
            <a:off x="4114800" y="594360"/>
            <a:ext cx="5029200" cy="454914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251960" y="7498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「システム？入力？今それどころじゃない…」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251960" y="1399032"/>
            <a:ext cx="320040" cy="32004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251960" y="1399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663440" y="1325880"/>
            <a:ext cx="429768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754880" y="1325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案件対応・移動・会議で手が離せない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251960" y="2148840"/>
            <a:ext cx="320040" cy="32004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25196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663440" y="2075688"/>
            <a:ext cx="429768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754880" y="20756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帰社後に入力しようとしても内容を忘れた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251960" y="2898648"/>
            <a:ext cx="320040" cy="32004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251960" y="2898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663440" y="2825496"/>
            <a:ext cx="429768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754880" y="28254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「あとでやろう」が積み重なり、入力ゼロへ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486400" y="3621024"/>
            <a:ext cx="0" cy="32004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206240" y="3977640"/>
            <a:ext cx="4754880" cy="960120"/>
          </a:xfrm>
          <a:prstGeom prst="rect">
            <a:avLst/>
          </a:prstGeom>
          <a:solidFill>
            <a:srgbClr val="FFEBEE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297680" y="400507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管理ツールは「機能」より
</a:t>
            </a:r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「続けられるか」で決まる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09728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コンセプト：「シンプル × 超速」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「使われるシステム」を実現する2つの柱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4572000" cy="3566160"/>
          </a:xfrm>
          <a:prstGeom prst="ellipse">
            <a:avLst/>
          </a:prstGeom>
          <a:solidFill>
            <a:srgbClr val="1565C0">
              <a:alpha val="8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1097280"/>
            <a:ext cx="4572000" cy="3566160"/>
          </a:xfrm>
          <a:prstGeom prst="ellipse">
            <a:avLst/>
          </a:prstGeom>
          <a:solidFill>
            <a:srgbClr val="00838F">
              <a:alpha val="85000"/>
            </a:srgbClr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50876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極限の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2651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シンプルUI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0080" y="3246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F2F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入力ストレスをゼロに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0876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AIの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303520" y="2651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爆速進化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5303520" y="3246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要望は当日に反映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23317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御社の
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武器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914400" y="4736592"/>
            <a:ext cx="731520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4400" y="4736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この2つを同時に実現するのが、当社システム最大の特徴です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09728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強み①　入力項目は「4つ」だけ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3931920" cy="4549140"/>
          </a:xfrm>
          <a:prstGeom prst="rect">
            <a:avLst/>
          </a:prstGeom>
          <a:solidFill>
            <a:srgbClr val="EFEBE9"/>
          </a:solidFill>
          <a:ln w="12700">
            <a:solidFill>
              <a:srgbClr val="EFEB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85800"/>
            <a:ext cx="3639312" cy="411480"/>
          </a:xfrm>
          <a:prstGeom prst="rect">
            <a:avLst/>
          </a:prstGeom>
          <a:solidFill>
            <a:srgbClr val="8D6E63"/>
          </a:solidFill>
          <a:ln w="12700">
            <a:solidFill>
              <a:srgbClr val="8D6E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85800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BEFORE　一般的なExcel入力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20700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2070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案件名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1408176"/>
            <a:ext cx="1645920" cy="182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20700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2070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顧客名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03120" y="1408176"/>
            <a:ext cx="1645920" cy="182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175564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755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担当者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1956816"/>
            <a:ext cx="1645920" cy="182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175564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1755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部署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03120" y="1956816"/>
            <a:ext cx="1645920" cy="182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30428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304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予算規模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2505456"/>
            <a:ext cx="1645920" cy="182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230428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2304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受注確度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103120" y="2505456"/>
            <a:ext cx="1645920" cy="182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285292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8529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提案日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3054096"/>
            <a:ext cx="1645920" cy="182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285292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28529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商談日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03120" y="3054096"/>
            <a:ext cx="1645920" cy="182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340156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4015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次回アクション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3602736"/>
            <a:ext cx="1645920" cy="182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57400" y="340156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34015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競合状況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03120" y="3602736"/>
            <a:ext cx="1645920" cy="182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" y="395020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950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受注予定日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" y="4151376"/>
            <a:ext cx="1645920" cy="182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57400" y="395020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03120" y="3950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備考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103120" y="4151376"/>
            <a:ext cx="1645920" cy="182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2880" y="4315968"/>
            <a:ext cx="3547872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" y="4315968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入力が多くて続けられない…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977640" y="2148840"/>
            <a:ext cx="1188720" cy="86868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7764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➔</a:t>
            </a:r>
            <a:endParaRPr lang="en-US" sz="3600" dirty="0"/>
          </a:p>
        </p:txBody>
      </p:sp>
      <p:sp>
        <p:nvSpPr>
          <p:cNvPr id="48" name="Shape 46"/>
          <p:cNvSpPr/>
          <p:nvPr/>
        </p:nvSpPr>
        <p:spPr>
          <a:xfrm>
            <a:off x="5257800" y="594360"/>
            <a:ext cx="3886200" cy="454914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94960" y="685800"/>
            <a:ext cx="36118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40680" y="685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AFTER　当社システム（スマホ）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92240" y="1188720"/>
            <a:ext cx="1828800" cy="3291840"/>
          </a:xfrm>
          <a:prstGeom prst="rect">
            <a:avLst/>
          </a:prstGeom>
          <a:solidFill>
            <a:srgbClr val="1E2761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65392" y="1417320"/>
            <a:ext cx="168249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65392" y="1417320"/>
            <a:ext cx="1682496" cy="3200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65392" y="141732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新規案件入力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11112" y="182880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案件名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611112" y="2029968"/>
            <a:ext cx="1591056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11112" y="237744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顧客名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611112" y="2578608"/>
            <a:ext cx="1591056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11112" y="292608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金額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611112" y="3127248"/>
            <a:ext cx="1591056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11112" y="34747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ステータス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611112" y="3675888"/>
            <a:ext cx="1591056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656832" y="3977640"/>
            <a:ext cx="1499616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56832" y="397764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送信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394960" y="4572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たったこれだけ！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09728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強み②　マイナー修正は「当日対応」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2103120"/>
          </a:xfrm>
          <a:prstGeom prst="rect">
            <a:avLst/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360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一般的なシステム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685800"/>
            <a:ext cx="3200400" cy="4114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685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追加費用　数十万円〜 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8229600" cy="146304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499616"/>
            <a:ext cx="292608" cy="29260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" y="182880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342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要望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1499616"/>
            <a:ext cx="292608" cy="29260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182880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342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見積り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499616"/>
            <a:ext cx="292608" cy="29260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41648" y="182880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342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契約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499616"/>
            <a:ext cx="292608" cy="29260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9008" y="182880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342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数ヶ月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E342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開発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499616"/>
            <a:ext cx="292608" cy="29260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73568" y="182880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342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実装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2788920"/>
            <a:ext cx="9144000" cy="235458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当社システム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03520" y="2834640"/>
            <a:ext cx="1554480" cy="1371600"/>
          </a:xfrm>
          <a:prstGeom prst="ellipse">
            <a:avLst/>
          </a:prstGeom>
          <a:solidFill>
            <a:srgbClr val="FFB300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28346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追加費用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¥0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995160" y="2926080"/>
            <a:ext cx="192024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926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機能追加・修正は
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当日中に対応！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822192"/>
            <a:ext cx="4572000" cy="146304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3657600"/>
            <a:ext cx="365760" cy="36576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384048" y="3749040"/>
            <a:ext cx="292608" cy="292608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19456" y="4078224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要望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121408" y="3749040"/>
            <a:ext cx="292608" cy="292608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956816" y="4078224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AI超速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開発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370832" y="3749040"/>
            <a:ext cx="292608" cy="292608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06240" y="4078224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当日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実装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09728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強み③　コストは業界標準の1/3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シンプルな設計と自社開発だから、圧倒的な低価格を実現しました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1616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一般的な多機能SaaS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8229600" cy="82296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8191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月額 50,000円〜　／　初期費用 数十万円〜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321040" y="1581912"/>
            <a:ext cx="365760" cy="822960"/>
          </a:xfrm>
          <a:prstGeom prst="rect">
            <a:avLst/>
          </a:prstGeom>
          <a:solidFill>
            <a:srgbClr val="616161"/>
          </a:solidFill>
          <a:ln w="12700">
            <a:solidFill>
              <a:srgbClr val="6161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5819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当社システム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53512"/>
            <a:ext cx="2743200" cy="82296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535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月額 〜16,500円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34640" y="2788920"/>
            <a:ext cx="1188720" cy="1188720"/>
          </a:xfrm>
          <a:prstGeom prst="ellipse">
            <a:avLst/>
          </a:prstGeom>
          <a:solidFill>
            <a:srgbClr val="FFB300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27889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約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1/3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206240" y="295351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初期費用も大幅削減！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57200" y="4005072"/>
            <a:ext cx="2697480" cy="86868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14800"/>
            <a:ext cx="411480" cy="41148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142232"/>
            <a:ext cx="356616" cy="35661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51560" y="402336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初期費用を大幅削減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1560" y="44622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導入障壁を最小化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337560" y="4005072"/>
            <a:ext cx="2697480" cy="86868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29000" y="4114800"/>
            <a:ext cx="411480" cy="41148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4142232"/>
            <a:ext cx="356616" cy="35661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931920" y="402336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追加費用なし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931920" y="44622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機能改修も費用不要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217920" y="4005072"/>
            <a:ext cx="2697480" cy="86868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309360" y="4114800"/>
            <a:ext cx="411480" cy="41148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4142232"/>
            <a:ext cx="356616" cy="35661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812280" y="402336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月額固定で予算管理しやすい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812280" y="44622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予期せぬ出費ゼロ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09728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強み④　丸投げ移行 ＆ セキュリティ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導入から運用まで、すべてお任せください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88920" cy="3611880"/>
          </a:xfrm>
          <a:prstGeom prst="rect">
            <a:avLst/>
          </a:prstGeom>
          <a:solidFill>
            <a:srgbClr val="FFFFFF"/>
          </a:solidFill>
          <a:ln w="254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88920" cy="10058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4732" y="1261872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452" y="1298448"/>
            <a:ext cx="676656" cy="6766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011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3A04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丸投げ移行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84048" y="2578608"/>
            <a:ext cx="2569464" cy="21031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" y="2743200"/>
            <a:ext cx="256032" cy="25603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670048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既存Excelを分析・整理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" y="3401568"/>
            <a:ext cx="256032" cy="25603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8416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データ変換・移行を代行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5488" y="4059936"/>
            <a:ext cx="256032" cy="25603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986784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設定・カスタマイズも完了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18688" y="1188720"/>
            <a:ext cx="2788920" cy="3611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18688" y="1188720"/>
            <a:ext cx="2788920" cy="10058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29100" y="1261872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1298448"/>
            <a:ext cx="676656" cy="6766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218688" y="2011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76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業務を止めない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3328416" y="2578608"/>
            <a:ext cx="2569464" cy="210312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419856" y="2743200"/>
            <a:ext cx="256032" cy="256032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767328" y="2670048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並行運用期間を設定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3419856" y="3401568"/>
            <a:ext cx="256032" cy="256032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767328" y="3328416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段階的な移行でリスクゼロ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3419856" y="4059936"/>
            <a:ext cx="256032" cy="256032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767328" y="3986784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導入後も運用サポート継続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163056" y="1188720"/>
            <a:ext cx="2788920" cy="361188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163056" y="1188720"/>
            <a:ext cx="2788920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173468" y="1261872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1298448"/>
            <a:ext cx="676656" cy="67665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163056" y="2011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1B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人の目で守る</a:t>
            </a:r>
            <a:endParaRPr lang="en-US" sz="1700" dirty="0"/>
          </a:p>
        </p:txBody>
      </p:sp>
      <p:sp>
        <p:nvSpPr>
          <p:cNvPr id="35" name="Shape 30"/>
          <p:cNvSpPr/>
          <p:nvPr/>
        </p:nvSpPr>
        <p:spPr>
          <a:xfrm>
            <a:off x="6272784" y="2578608"/>
            <a:ext cx="2569464" cy="2103120"/>
          </a:xfrm>
          <a:prstGeom prst="rect">
            <a:avLst/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364224" y="2743200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711696" y="2670048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アクセス権限を個別管理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6364224" y="3401568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711696" y="3328416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不審なアクセスを監視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6364224" y="4059936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711696" y="3986784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担当者が直接・迅速に対応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すべての機能が、導入コストを下げながら、安心・安全を両立します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09728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導入後の未来：リソースが完全に見える化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4754880" cy="45491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858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CAF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■ 案件管理ダッシュボード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" y="1078992"/>
            <a:ext cx="1371600" cy="7772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0789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23件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進行中案件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73352" y="1078992"/>
            <a:ext cx="1371600" cy="7772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73352" y="10789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8件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73352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今月受注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82112" y="1078992"/>
            <a:ext cx="1371600" cy="7772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10789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82112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達成率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" y="19659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案件ステータス分布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286000"/>
            <a:ext cx="2103120" cy="38404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商談中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2286000"/>
            <a:ext cx="1097280" cy="38404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提案済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2286000"/>
            <a:ext cx="73152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6974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受注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0" y="2286000"/>
            <a:ext cx="36576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26974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失注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" y="30358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担当者別キャパシティ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" y="3401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田中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3456432"/>
            <a:ext cx="3566160" cy="18288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456432"/>
            <a:ext cx="3031236" cy="1828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34015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" y="3739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佐藤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" y="3794760"/>
            <a:ext cx="3566160" cy="18288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3794760"/>
            <a:ext cx="2139696" cy="1828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37398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2880" y="4078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鈴木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" y="4133088"/>
            <a:ext cx="3566160" cy="18288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4133088"/>
            <a:ext cx="3387852" cy="1828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40782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95%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2880" y="4416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山田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" y="4471416"/>
            <a:ext cx="3566160" cy="18288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4471416"/>
            <a:ext cx="1426464" cy="1828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44165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594360"/>
            <a:ext cx="4297680" cy="454914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7315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マネージャーが
</a:t>
            </a:r>
            <a:pPr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「一目で」把握できる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4983480" y="1856232"/>
            <a:ext cx="320040" cy="32004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912" y="1874520"/>
            <a:ext cx="265176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413248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属人化を完全に防ぐ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5413248" y="2148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誰が何をやっているかが一目でわかる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983480" y="2633472"/>
            <a:ext cx="320040" cy="32004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2651760"/>
            <a:ext cx="265176" cy="265176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5413248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最適なアサインが可能に</a:t>
            </a:r>
            <a:endParaRPr lang="en-US" sz="1500" dirty="0"/>
          </a:p>
        </p:txBody>
      </p:sp>
      <p:sp>
        <p:nvSpPr>
          <p:cNvPr id="51" name="Text 47"/>
          <p:cNvSpPr/>
          <p:nvPr/>
        </p:nvSpPr>
        <p:spPr>
          <a:xfrm>
            <a:off x="5413248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キャパシティを見て最適な担当を決定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4983480" y="3410712"/>
            <a:ext cx="320040" cy="32004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3429000"/>
            <a:ext cx="265176" cy="265176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5413248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案件の取りこぼしをゼロに</a:t>
            </a:r>
            <a:endParaRPr lang="en-US" sz="1500" dirty="0"/>
          </a:p>
        </p:txBody>
      </p:sp>
      <p:sp>
        <p:nvSpPr>
          <p:cNvPr id="55" name="Text 50"/>
          <p:cNvSpPr/>
          <p:nvPr/>
        </p:nvSpPr>
        <p:spPr>
          <a:xfrm>
            <a:off x="5413248" y="3703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進捗の遅れをシステムが自動で検知</a:t>
            </a:r>
            <a:endParaRPr lang="en-US" sz="1200" dirty="0"/>
          </a:p>
        </p:txBody>
      </p:sp>
      <p:sp>
        <p:nvSpPr>
          <p:cNvPr id="56" name="Shape 51"/>
          <p:cNvSpPr/>
          <p:nvPr/>
        </p:nvSpPr>
        <p:spPr>
          <a:xfrm>
            <a:off x="4983480" y="4187952"/>
            <a:ext cx="320040" cy="32004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206240"/>
            <a:ext cx="265176" cy="265176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5413248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データに基づく意思決定</a:t>
            </a:r>
            <a:endParaRPr lang="en-US" sz="1500" dirty="0"/>
          </a:p>
        </p:txBody>
      </p:sp>
      <p:sp>
        <p:nvSpPr>
          <p:cNvPr id="59" name="Text 53"/>
          <p:cNvSpPr/>
          <p:nvPr/>
        </p:nvSpPr>
        <p:spPr>
          <a:xfrm>
            <a:off x="5413248" y="4480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勘ではなく数字で動く組織へ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109728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導入までの簡単3ステップ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最短2週間で本番運用スタート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2743200" cy="3456432"/>
          </a:xfrm>
          <a:prstGeom prst="rect">
            <a:avLst/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07008"/>
            <a:ext cx="2743200" cy="105156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35608" y="1261872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298448"/>
            <a:ext cx="603504" cy="6035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258568"/>
            <a:ext cx="2743200" cy="240487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ヒアリング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2834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現状のExcelや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182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業務フローを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35295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お聞かせください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1208" y="42519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所要時間：約30分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54680" y="228600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976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▶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319272" y="1207008"/>
            <a:ext cx="2743200" cy="3456432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19272" y="1207008"/>
            <a:ext cx="274320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43400" y="1261872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298448"/>
            <a:ext cx="603504" cy="60350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19272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2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319272" y="2258568"/>
            <a:ext cx="2743200" cy="2404872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19272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データ移行・設定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3456432" y="2834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ExcelデータをAIで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3456432" y="3182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自動変換・移行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3456432" y="35295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システムを設定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3429000" y="4206240"/>
            <a:ext cx="2523744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429000" y="42062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弊社が全て代行！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062472" y="228600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976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▶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6227064" y="1207008"/>
            <a:ext cx="2743200" cy="3456432"/>
          </a:xfrm>
          <a:prstGeom prst="rect">
            <a:avLst/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227064" y="1207008"/>
            <a:ext cx="2743200" cy="10515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251192" y="1261872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298448"/>
            <a:ext cx="603504" cy="60350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227064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3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6227064" y="2258568"/>
            <a:ext cx="2743200" cy="240487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227064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運用スタート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6364224" y="2834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研修・マニュアル付きで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6364224" y="3182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スムーズに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6364224" y="35295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運用開始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336792" y="42519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導入後もサポート継続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導入から運用まで、一切お任せください。余計な手間はゼロです。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64008"/>
            <a:ext cx="2468880" cy="50154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64008"/>
            <a:ext cx="54864" cy="501548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9984" y="2926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3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無料デモ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B3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作成中！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41148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AF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Next Step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822960"/>
            <a:ext cx="6080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まずは今のExcelを
</a:t>
            </a:r>
            <a:pPr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見せてください！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2651760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現状のExcelを拝見するだけで、最適な提案をお出しします。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200400"/>
            <a:ext cx="6080760" cy="0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3337560"/>
            <a:ext cx="6080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401568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無料デモ・相談はこちら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794760"/>
            <a:ext cx="5760720" cy="0"/>
          </a:xfrm>
          <a:prstGeom prst="line">
            <a:avLst/>
          </a:prstGeom>
          <a:noFill/>
          <a:ln w="12700">
            <a:solidFill>
              <a:srgbClr val="E3F2F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86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15568" y="3886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info@example.com</a:t>
            </a:r>
            <a:endParaRPr lang="en-US" sz="15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1596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15568" y="43159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03-XXXX-XXXX　（担当：〇〇　〇〇）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案件管理システム 営業資料</dc:title>
  <dc:subject>PptxGenJS Presentation</dc:subject>
  <dc:creator>PptxGenJS</dc:creator>
  <cp:lastModifiedBy>PptxGenJS</cp:lastModifiedBy>
  <cp:revision>1</cp:revision>
  <dcterms:created xsi:type="dcterms:W3CDTF">2026-03-18T06:46:26Z</dcterms:created>
  <dcterms:modified xsi:type="dcterms:W3CDTF">2026-03-18T06:46:26Z</dcterms:modified>
</cp:coreProperties>
</file>